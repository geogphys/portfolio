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3" r:id="rId4"/>
    <p:sldId id="266" r:id="rId5"/>
    <p:sldId id="267" r:id="rId6"/>
    <p:sldId id="257" r:id="rId7"/>
    <p:sldId id="258" r:id="rId8"/>
    <p:sldId id="259" r:id="rId9"/>
    <p:sldId id="260" r:id="rId10"/>
    <p:sldId id="261" r:id="rId11"/>
    <p:sldId id="262" r:id="rId12"/>
    <p:sldId id="268" r:id="rId13"/>
    <p:sldId id="269" r:id="rId14"/>
    <p:sldId id="270" r:id="rId15"/>
    <p:sldId id="271" r:id="rId16"/>
    <p:sldId id="264" r:id="rId17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3" autoAdjust="0"/>
    <p:restoredTop sz="94660"/>
  </p:normalViewPr>
  <p:slideViewPr>
    <p:cSldViewPr>
      <p:cViewPr varScale="1">
        <p:scale>
          <a:sx n="46" d="100"/>
          <a:sy n="46" d="100"/>
        </p:scale>
        <p:origin x="-2198" y="-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1" y="0"/>
            <a:ext cx="6857999" cy="684724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4474464"/>
            <a:ext cx="6057900" cy="2231136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2438400"/>
            <a:ext cx="6057900" cy="1999488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5491-47AE-48CA-BADB-E1D1F9A72891}" type="datetimeFigureOut">
              <a:rPr lang="en-US" smtClean="0"/>
              <a:t>4/28/2010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4FAF1-F928-448C-87FC-6CF5E68BE77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6837779"/>
            <a:ext cx="6858000" cy="6096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7264"/>
            <a:ext cx="6172200" cy="1670304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5491-47AE-48CA-BADB-E1D1F9A72891}" type="datetimeFigureOut">
              <a:rPr lang="en-US" smtClean="0"/>
              <a:t>4/28/2010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4FAF1-F928-448C-87FC-6CF5E68BE7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6858000" cy="3470027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3470027"/>
            <a:ext cx="6858000" cy="6096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2356" y="158496"/>
            <a:ext cx="6009894" cy="2182368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5498" y="2438400"/>
            <a:ext cx="6016752" cy="9144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5491-47AE-48CA-BADB-E1D1F9A72891}" type="datetimeFigureOut">
              <a:rPr lang="en-US" smtClean="0"/>
              <a:t>4/28/2010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4FAF1-F928-448C-87FC-6CF5E68BE77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365248"/>
            <a:ext cx="3028950" cy="6165088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65248"/>
            <a:ext cx="3028950" cy="6165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5491-47AE-48CA-BADB-E1D1F9A72891}" type="datetimeFigureOut">
              <a:rPr lang="en-US" smtClean="0"/>
              <a:t>4/28/2010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4FAF1-F928-448C-87FC-6CF5E68BE7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65317"/>
            <a:ext cx="3030141" cy="953807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266016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65317"/>
            <a:ext cx="3031331" cy="953807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266016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5491-47AE-48CA-BADB-E1D1F9A72891}" type="datetimeFigureOut">
              <a:rPr lang="en-US" smtClean="0"/>
              <a:t>4/28/2010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4FAF1-F928-448C-87FC-6CF5E68BE7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5491-47AE-48CA-BADB-E1D1F9A72891}" type="datetimeFigureOut">
              <a:rPr lang="en-US" smtClean="0"/>
              <a:t>4/28/2010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4FAF1-F928-448C-87FC-6CF5E68BE7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5491-47AE-48CA-BADB-E1D1F9A72891}" type="datetimeFigureOut">
              <a:rPr lang="en-US" smtClean="0"/>
              <a:t>4/28/2010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4FAF1-F928-448C-87FC-6CF5E68BE7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79" y="203200"/>
            <a:ext cx="1892808" cy="1304544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4533" y="2324178"/>
            <a:ext cx="4440481" cy="60785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879" y="2306691"/>
            <a:ext cx="1851660" cy="6096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5491-47AE-48CA-BADB-E1D1F9A72891}" type="datetimeFigureOut">
              <a:rPr lang="en-US" smtClean="0"/>
              <a:t>4/28/2010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4FAF1-F928-448C-87FC-6CF5E68BE77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141803" y="0"/>
            <a:ext cx="34290" cy="193852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141803" y="0"/>
            <a:ext cx="34290" cy="193852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" y="207264"/>
            <a:ext cx="1893863" cy="1304544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77854" y="1979744"/>
            <a:ext cx="4685548" cy="7164256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444" y="2304288"/>
            <a:ext cx="1851660" cy="6096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3444" y="1560576"/>
            <a:ext cx="1892808" cy="268224"/>
          </a:xfrm>
        </p:spPr>
        <p:txBody>
          <a:bodyPr/>
          <a:lstStyle/>
          <a:p>
            <a:fld id="{8A285491-47AE-48CA-BADB-E1D1F9A72891}" type="datetimeFigureOut">
              <a:rPr lang="en-US" smtClean="0"/>
              <a:t>4/28/2010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141803" y="0"/>
            <a:ext cx="34290" cy="9144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141803" y="0"/>
            <a:ext cx="34290" cy="9144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6856" y="1560576"/>
            <a:ext cx="3895344" cy="268224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54496" y="1560576"/>
            <a:ext cx="550398" cy="268224"/>
          </a:xfrm>
        </p:spPr>
        <p:txBody>
          <a:bodyPr/>
          <a:lstStyle/>
          <a:p>
            <a:fld id="{B7C4FAF1-F928-448C-87FC-6CF5E68BE77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5491-47AE-48CA-BADB-E1D1F9A72891}" type="datetimeFigureOut">
              <a:rPr lang="en-US" smtClean="0"/>
              <a:t>4/28/2010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4FAF1-F928-448C-87FC-6CF5E68BE7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4949190" y="0"/>
            <a:ext cx="34290" cy="9144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4985766" y="0"/>
            <a:ext cx="1885951" cy="9144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86350" y="366188"/>
            <a:ext cx="1428750" cy="7802033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406401"/>
            <a:ext cx="4514850" cy="7802033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5491-47AE-48CA-BADB-E1D1F9A72891}" type="datetimeFigureOut">
              <a:rPr lang="en-US" smtClean="0"/>
              <a:t>4/28/2010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80448" y="8503280"/>
            <a:ext cx="287730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4FAF1-F928-448C-87FC-6CF5E68BE7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914527"/>
            <a:ext cx="6858000" cy="6096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1" y="1"/>
            <a:ext cx="6857999" cy="1911644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03200"/>
            <a:ext cx="6172200" cy="1668083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66922"/>
            <a:ext cx="6172200" cy="616747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635999"/>
            <a:ext cx="1600200" cy="36576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8A285491-47AE-48CA-BADB-E1D1F9A72891}" type="datetimeFigureOut">
              <a:rPr lang="en-US" smtClean="0"/>
              <a:t>4/28/2010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0448" y="8635999"/>
            <a:ext cx="4130789" cy="36576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53297" y="8635999"/>
            <a:ext cx="550398" cy="36576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B7C4FAF1-F928-448C-87FC-6CF5E68BE77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apcog.org/information-clearinghouse/" TargetMode="External"/><Relationship Id="rId2" Type="http://schemas.openxmlformats.org/officeDocument/2006/relationships/hyperlink" Target="http://www.census.gov/geo/www/cob/tr2000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i.austin.tx.us/demographics/" TargetMode="External"/><Relationship Id="rId4" Type="http://schemas.openxmlformats.org/officeDocument/2006/relationships/hyperlink" Target="http://www.ci.austin.tx.us/police/censustract/censustract.cf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Austin Crime Analysis</a:t>
            </a:r>
            <a:br>
              <a:rPr lang="en-US" dirty="0" smtClean="0"/>
            </a:br>
            <a:r>
              <a:rPr lang="en-US" dirty="0" smtClean="0"/>
              <a:t>Comparing 2004 to 2009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Henry Reissig</a:t>
            </a:r>
          </a:p>
          <a:p>
            <a:r>
              <a:rPr lang="en-US" dirty="0" smtClean="0"/>
              <a:t>Geography 5318</a:t>
            </a:r>
          </a:p>
          <a:p>
            <a:r>
              <a:rPr lang="en-US" dirty="0" smtClean="0"/>
              <a:t>April 28, 2010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years 2004 and 2009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National boom to bust</a:t>
            </a:r>
          </a:p>
          <a:p>
            <a:r>
              <a:rPr lang="en-US" dirty="0" smtClean="0"/>
              <a:t>Population Explosion in Texas and Austin</a:t>
            </a:r>
          </a:p>
          <a:p>
            <a:r>
              <a:rPr lang="en-US" dirty="0" smtClean="0"/>
              <a:t>Population Increase negatives</a:t>
            </a:r>
          </a:p>
          <a:p>
            <a:pPr lvl="1"/>
            <a:r>
              <a:rPr lang="en-US" dirty="0" smtClean="0"/>
              <a:t>Crime Increase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Austin Facts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2004 Population – 692,102</a:t>
            </a:r>
          </a:p>
          <a:p>
            <a:r>
              <a:rPr lang="en-US" dirty="0" smtClean="0"/>
              <a:t>2009 Population – 774,037</a:t>
            </a:r>
          </a:p>
          <a:p>
            <a:r>
              <a:rPr lang="en-US" dirty="0" smtClean="0"/>
              <a:t>Percent Increase – 11.8% Increase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2004 Combined Crime – 135,020</a:t>
            </a:r>
          </a:p>
          <a:p>
            <a:r>
              <a:rPr lang="en-US" dirty="0" smtClean="0"/>
              <a:t>2009 Combined Crime – 160,424</a:t>
            </a:r>
          </a:p>
          <a:p>
            <a:r>
              <a:rPr lang="en-US" dirty="0" smtClean="0"/>
              <a:t>Percent Change – 18.8%  Increase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with just facts and the spatial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These facts don’t answer:</a:t>
            </a:r>
          </a:p>
          <a:p>
            <a:pPr lvl="1"/>
            <a:r>
              <a:rPr lang="en-US" dirty="0" smtClean="0"/>
              <a:t>Where is crime occurring the most in Austin?</a:t>
            </a:r>
          </a:p>
          <a:p>
            <a:pPr lvl="1"/>
            <a:r>
              <a:rPr lang="en-US" dirty="0" smtClean="0"/>
              <a:t>What areas have increased or decreased in crime from 2004 to 2009?</a:t>
            </a:r>
          </a:p>
          <a:p>
            <a:r>
              <a:rPr lang="en-US" dirty="0" smtClean="0"/>
              <a:t>Solution:</a:t>
            </a:r>
          </a:p>
          <a:p>
            <a:pPr lvl="1"/>
            <a:r>
              <a:rPr lang="en-US" dirty="0" smtClean="0"/>
              <a:t>Spatially analyze the crime density in Austin and find the hot spots where crime has changed between 2004 and 2009.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Crime – what are we counting?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“Data provided represents only calls for police service where a formal, written report was made and does not include other calls for police service that did not result in a written report.” – Austin Police Web Site</a:t>
            </a:r>
          </a:p>
          <a:p>
            <a:r>
              <a:rPr lang="en-US" dirty="0" smtClean="0"/>
              <a:t>Some Examples</a:t>
            </a:r>
            <a:endParaRPr lang="en-US" dirty="0" smtClean="0"/>
          </a:p>
          <a:p>
            <a:pPr lvl="1"/>
            <a:r>
              <a:rPr lang="en-US" dirty="0" smtClean="0"/>
              <a:t>murder </a:t>
            </a:r>
          </a:p>
          <a:p>
            <a:pPr lvl="1"/>
            <a:r>
              <a:rPr lang="en-US" dirty="0" smtClean="0"/>
              <a:t>rape</a:t>
            </a:r>
          </a:p>
          <a:p>
            <a:pPr lvl="1"/>
            <a:r>
              <a:rPr lang="en-US" dirty="0" smtClean="0"/>
              <a:t>robbery</a:t>
            </a:r>
          </a:p>
          <a:p>
            <a:pPr lvl="1"/>
            <a:r>
              <a:rPr lang="en-US" dirty="0" smtClean="0"/>
              <a:t>aggravated assault</a:t>
            </a:r>
          </a:p>
          <a:p>
            <a:pPr lvl="1"/>
            <a:r>
              <a:rPr lang="en-US" dirty="0" smtClean="0"/>
              <a:t>burglary </a:t>
            </a:r>
          </a:p>
          <a:p>
            <a:pPr lvl="1"/>
            <a:r>
              <a:rPr lang="en-US" dirty="0" smtClean="0"/>
              <a:t>theft</a:t>
            </a:r>
          </a:p>
          <a:p>
            <a:pPr lvl="1"/>
            <a:r>
              <a:rPr lang="en-US" dirty="0" smtClean="0"/>
              <a:t>motor vehicle theft</a:t>
            </a:r>
          </a:p>
          <a:p>
            <a:pPr lvl="1"/>
            <a:r>
              <a:rPr lang="en-US" dirty="0" smtClean="0"/>
              <a:t>Arson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ustin Crime Per Census Tract 200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"/>
            <a:ext cx="6858000" cy="982980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ustin Crime Density 200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ustin Crime Per Census Tract 200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ustin Crime Density 200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ustin Crime Change Per Census Tract 2004-200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nge in Austin Crime Rate 2004 to 200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change in crime is clearly not evenly distributed in Austin</a:t>
            </a:r>
          </a:p>
          <a:p>
            <a:r>
              <a:rPr lang="en-US" dirty="0" smtClean="0"/>
              <a:t>Central, </a:t>
            </a:r>
            <a:r>
              <a:rPr lang="en-US" dirty="0"/>
              <a:t>n</a:t>
            </a:r>
            <a:r>
              <a:rPr lang="en-US" dirty="0" smtClean="0"/>
              <a:t>orth central and southeast Austin have the highest increases in crime rates</a:t>
            </a:r>
          </a:p>
          <a:p>
            <a:r>
              <a:rPr lang="en-US" dirty="0" smtClean="0"/>
              <a:t>This information can be used by city planners and law enforcement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in Implementing the GIS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Gathered crime data from the City of Austin Website the data had total crime with census tract</a:t>
            </a:r>
          </a:p>
          <a:p>
            <a:r>
              <a:rPr lang="en-US" dirty="0" smtClean="0"/>
              <a:t>Census tract maps were gathered from the US census Bureau.  The 2000 census tract map was used in this analysis</a:t>
            </a:r>
          </a:p>
          <a:p>
            <a:r>
              <a:rPr lang="en-US" dirty="0" smtClean="0"/>
              <a:t>Crime data was then converted to a database file.  The crime by census tract data table was then joined with the 2000 census tract map.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in Implementing the GIS </a:t>
            </a:r>
            <a:r>
              <a:rPr lang="en-US" dirty="0" smtClean="0"/>
              <a:t>Model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joined layer was then classified into graduated colors to visualize total crime per census tract for both the 2004 and 2009 data sets.</a:t>
            </a:r>
          </a:p>
          <a:p>
            <a:r>
              <a:rPr lang="en-US" dirty="0" smtClean="0"/>
              <a:t>Before any interpolation analysis was done, the </a:t>
            </a:r>
            <a:r>
              <a:rPr lang="en-US" dirty="0" err="1" smtClean="0"/>
              <a:t>centroids</a:t>
            </a:r>
            <a:r>
              <a:rPr lang="en-US" dirty="0" smtClean="0"/>
              <a:t> for the all the census block groups were found.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in Implementing the GIS Model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r>
              <a:rPr lang="en-US" dirty="0" smtClean="0"/>
              <a:t>Interpolation was then done on these maps using </a:t>
            </a:r>
            <a:r>
              <a:rPr lang="en-US" dirty="0" err="1" smtClean="0"/>
              <a:t>kriging</a:t>
            </a:r>
            <a:r>
              <a:rPr lang="en-US" dirty="0" smtClean="0"/>
              <a:t> with a circular </a:t>
            </a:r>
            <a:r>
              <a:rPr lang="en-US" dirty="0" err="1" smtClean="0"/>
              <a:t>semivariogram</a:t>
            </a:r>
            <a:r>
              <a:rPr lang="en-US" dirty="0" smtClean="0"/>
              <a:t> model and a search radius type as variable and number of points 12.  This produced two crime density maps for both years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The difference between the two </a:t>
            </a:r>
            <a:r>
              <a:rPr lang="en-US" dirty="0" err="1" smtClean="0"/>
              <a:t>kernal</a:t>
            </a:r>
            <a:r>
              <a:rPr lang="en-US" dirty="0" smtClean="0"/>
              <a:t> density maps was then performed with the raster calculator creating the hot spot map showing the increase in crime rate.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3200399"/>
          <a:ext cx="5867400" cy="2514601"/>
        </p:xfrm>
        <a:graphic>
          <a:graphicData uri="http://schemas.openxmlformats.org/drawingml/2006/table">
            <a:tbl>
              <a:tblPr/>
              <a:tblGrid>
                <a:gridCol w="2936713"/>
                <a:gridCol w="2930687"/>
              </a:tblGrid>
              <a:tr h="2794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latin typeface="Calibri"/>
                          <a:ea typeface="Calibri"/>
                          <a:cs typeface="Times New Roman"/>
                        </a:rPr>
                        <a:t>Web Site</a:t>
                      </a:r>
                      <a:endParaRPr lang="en-US" sz="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706" marR="5070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latin typeface="Calibri"/>
                          <a:ea typeface="Calibri"/>
                          <a:cs typeface="Times New Roman"/>
                        </a:rPr>
                        <a:t>URL</a:t>
                      </a:r>
                      <a:endParaRPr lang="en-US" sz="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706" marR="5070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Calibri"/>
                          <a:ea typeface="Calibri"/>
                          <a:cs typeface="Times New Roman"/>
                        </a:rPr>
                        <a:t>US Census Bureau</a:t>
                      </a:r>
                      <a:endParaRPr lang="en-US" sz="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706" marR="5070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u="sng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  <a:hlinkClick r:id="rId2"/>
                        </a:rPr>
                        <a:t>http://www.census.gov/geo/www/cob/tr2000.html</a:t>
                      </a:r>
                      <a:endParaRPr lang="en-US" sz="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706" marR="5070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Calibri"/>
                          <a:ea typeface="Calibri"/>
                          <a:cs typeface="Times New Roman"/>
                        </a:rPr>
                        <a:t>Capital Area Council of Governments</a:t>
                      </a:r>
                      <a:endParaRPr lang="en-US" sz="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706" marR="5070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u="sng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  <a:hlinkClick r:id="rId3"/>
                        </a:rPr>
                        <a:t>http://www.capcog.org/information-clearinghouse/</a:t>
                      </a:r>
                      <a:endParaRPr lang="en-US" sz="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706" marR="5070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Calibri"/>
                          <a:ea typeface="Calibri"/>
                          <a:cs typeface="Times New Roman"/>
                        </a:rPr>
                        <a:t>City of Austin Police Department</a:t>
                      </a:r>
                      <a:endParaRPr lang="en-US" sz="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706" marR="5070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u="sng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  <a:hlinkClick r:id="rId4"/>
                        </a:rPr>
                        <a:t>http://www.ci.austin.tx.us/police/censustract/censustract.cfm</a:t>
                      </a:r>
                      <a:r>
                        <a:rPr lang="en-US" sz="1000"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endParaRPr lang="en-US" sz="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706" marR="5070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Calibri"/>
                          <a:ea typeface="Calibri"/>
                          <a:cs typeface="Times New Roman"/>
                        </a:rPr>
                        <a:t>Austin City Connection</a:t>
                      </a:r>
                      <a:endParaRPr lang="en-US" sz="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706" marR="5070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  <a:hlinkClick r:id="rId5"/>
                        </a:rPr>
                        <a:t>http://www.ci.austin.tx.us/demographics/</a:t>
                      </a:r>
                      <a:r>
                        <a:rPr lang="en-US" sz="1000" dirty="0"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endParaRPr lang="en-US" sz="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706" marR="5070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128</TotalTime>
  <Words>449</Words>
  <Application>Microsoft Office PowerPoint</Application>
  <PresentationFormat>On-screen Show (4:3)</PresentationFormat>
  <Paragraphs>60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Module</vt:lpstr>
      <vt:lpstr>Austin Crime Analysis Comparing 2004 to 2009</vt:lpstr>
      <vt:lpstr>The years 2004 and 2009</vt:lpstr>
      <vt:lpstr>Austin Facts</vt:lpstr>
      <vt:lpstr>Problem with just facts and the spatial solution</vt:lpstr>
      <vt:lpstr>Crime – what are we counting?</vt:lpstr>
      <vt:lpstr>Slide 6</vt:lpstr>
      <vt:lpstr>Slide 7</vt:lpstr>
      <vt:lpstr>Slide 8</vt:lpstr>
      <vt:lpstr>Slide 9</vt:lpstr>
      <vt:lpstr>Slide 10</vt:lpstr>
      <vt:lpstr>Slide 11</vt:lpstr>
      <vt:lpstr>Conclusion</vt:lpstr>
      <vt:lpstr>Steps in Implementing the GIS Model</vt:lpstr>
      <vt:lpstr>Steps in Implementing the GIS Model (Cont.)</vt:lpstr>
      <vt:lpstr>Steps in Implementing the GIS Model (Cont.)</vt:lpstr>
      <vt:lpstr>References</vt:lpstr>
    </vt:vector>
  </TitlesOfParts>
  <Company>TxCPA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Austin Crime Analysis Comparing 2004 to 2009</dc:title>
  <dc:creator>hrei454</dc:creator>
  <cp:lastModifiedBy>hrei454</cp:lastModifiedBy>
  <cp:revision>23</cp:revision>
  <dcterms:created xsi:type="dcterms:W3CDTF">2010-04-28T17:44:03Z</dcterms:created>
  <dcterms:modified xsi:type="dcterms:W3CDTF">2010-04-28T19:52:59Z</dcterms:modified>
</cp:coreProperties>
</file>