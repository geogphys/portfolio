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1" r:id="rId4"/>
    <p:sldId id="275" r:id="rId5"/>
    <p:sldId id="271" r:id="rId6"/>
    <p:sldId id="272" r:id="rId7"/>
    <p:sldId id="260" r:id="rId8"/>
    <p:sldId id="262" r:id="rId9"/>
    <p:sldId id="263" r:id="rId10"/>
    <p:sldId id="267" r:id="rId11"/>
    <p:sldId id="269" r:id="rId12"/>
    <p:sldId id="265" r:id="rId13"/>
    <p:sldId id="270" r:id="rId14"/>
    <p:sldId id="273" r:id="rId15"/>
    <p:sldId id="274" r:id="rId16"/>
    <p:sldId id="276"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04" d="100"/>
          <a:sy n="104" d="100"/>
        </p:scale>
        <p:origin x="-174"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4464B6D-8CAA-479C-9EB1-22506711C83B}" type="datetimeFigureOut">
              <a:rPr lang="en-US" smtClean="0"/>
              <a:pPr/>
              <a:t>11/2/2009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BD9804-6EAD-4DF0-AC25-698A0D8BB495}"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4464B6D-8CAA-479C-9EB1-22506711C83B}" type="datetimeFigureOut">
              <a:rPr lang="en-US" smtClean="0"/>
              <a:pPr/>
              <a:t>11/2/2009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BD9804-6EAD-4DF0-AC25-698A0D8BB49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4464B6D-8CAA-479C-9EB1-22506711C83B}" type="datetimeFigureOut">
              <a:rPr lang="en-US" smtClean="0"/>
              <a:pPr/>
              <a:t>11/2/2009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BD9804-6EAD-4DF0-AC25-698A0D8BB495}"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4464B6D-8CAA-479C-9EB1-22506711C83B}" type="datetimeFigureOut">
              <a:rPr lang="en-US" smtClean="0"/>
              <a:pPr/>
              <a:t>11/2/2009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BD9804-6EAD-4DF0-AC25-698A0D8BB49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4464B6D-8CAA-479C-9EB1-22506711C83B}" type="datetimeFigureOut">
              <a:rPr lang="en-US" smtClean="0"/>
              <a:pPr/>
              <a:t>11/2/2009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5BD9804-6EAD-4DF0-AC25-698A0D8BB49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4464B6D-8CAA-479C-9EB1-22506711C83B}" type="datetimeFigureOut">
              <a:rPr lang="en-US" smtClean="0"/>
              <a:pPr/>
              <a:t>11/2/2009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5BD9804-6EAD-4DF0-AC25-698A0D8BB49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464B6D-8CAA-479C-9EB1-22506711C83B}" type="datetimeFigureOut">
              <a:rPr lang="en-US" smtClean="0"/>
              <a:pPr/>
              <a:t>11/2/2009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5BD9804-6EAD-4DF0-AC25-698A0D8BB49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4464B6D-8CAA-479C-9EB1-22506711C83B}" type="datetimeFigureOut">
              <a:rPr lang="en-US" smtClean="0"/>
              <a:pPr/>
              <a:t>11/2/2009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BD9804-6EAD-4DF0-AC25-698A0D8BB49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4464B6D-8CAA-479C-9EB1-22506711C83B}" type="datetimeFigureOut">
              <a:rPr lang="en-US" smtClean="0"/>
              <a:pPr/>
              <a:t>11/2/2009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BD9804-6EAD-4DF0-AC25-698A0D8BB495}"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4464B6D-8CAA-479C-9EB1-22506711C83B}" type="datetimeFigureOut">
              <a:rPr lang="en-US" smtClean="0"/>
              <a:pPr/>
              <a:t>11/2/2009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BD9804-6EAD-4DF0-AC25-698A0D8BB49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4464B6D-8CAA-479C-9EB1-22506711C83B}" type="datetimeFigureOut">
              <a:rPr lang="en-US" smtClean="0"/>
              <a:pPr/>
              <a:t>11/2/2009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BD9804-6EAD-4DF0-AC25-698A0D8BB49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464B6D-8CAA-479C-9EB1-22506711C83B}" type="datetimeFigureOut">
              <a:rPr lang="en-US" smtClean="0"/>
              <a:pPr/>
              <a:t>11/2/2009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BD9804-6EAD-4DF0-AC25-698A0D8BB495}"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0"/>
            <a:ext cx="7772400" cy="1470025"/>
          </a:xfrm>
        </p:spPr>
        <p:txBody>
          <a:bodyPr>
            <a:normAutofit fontScale="90000"/>
          </a:bodyPr>
          <a:lstStyle/>
          <a:p>
            <a:r>
              <a:rPr lang="en-US" dirty="0" smtClean="0"/>
              <a:t>The Changing Geography of Metropolitan Opportunity: The Segregation of the Poor in U.S. Metropolitan Areas, 1970 to 1990</a:t>
            </a:r>
            <a:endParaRPr lang="en-US" dirty="0"/>
          </a:p>
        </p:txBody>
      </p:sp>
      <p:sp>
        <p:nvSpPr>
          <p:cNvPr id="3" name="Subtitle 2"/>
          <p:cNvSpPr>
            <a:spLocks noGrp="1"/>
          </p:cNvSpPr>
          <p:nvPr>
            <p:ph type="subTitle" idx="1"/>
          </p:nvPr>
        </p:nvSpPr>
        <p:spPr/>
        <p:txBody>
          <a:bodyPr/>
          <a:lstStyle/>
          <a:p>
            <a:r>
              <a:rPr lang="en-US" dirty="0" smtClean="0"/>
              <a:t>Presentation</a:t>
            </a:r>
          </a:p>
          <a:p>
            <a:r>
              <a:rPr lang="en-US" dirty="0" smtClean="0"/>
              <a:t>By</a:t>
            </a:r>
          </a:p>
          <a:p>
            <a:r>
              <a:rPr lang="en-US" dirty="0" smtClean="0"/>
              <a:t>Henry </a:t>
            </a:r>
            <a:r>
              <a:rPr lang="en-US" dirty="0" err="1" smtClean="0"/>
              <a:t>Reissig</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“Poor” and “Rich” Areas</a:t>
            </a:r>
            <a:endParaRPr lang="en-US" dirty="0"/>
          </a:p>
        </p:txBody>
      </p:sp>
      <p:pic>
        <p:nvPicPr>
          <p:cNvPr id="4" name="Content Placeholder 3" descr="poor area2.jpg"/>
          <p:cNvPicPr>
            <a:picLocks noGrp="1" noChangeAspect="1"/>
          </p:cNvPicPr>
          <p:nvPr>
            <p:ph idx="1"/>
          </p:nvPr>
        </p:nvPicPr>
        <p:blipFill>
          <a:blip r:embed="rId2" cstate="print"/>
          <a:stretch>
            <a:fillRect/>
          </a:stretch>
        </p:blipFill>
        <p:spPr>
          <a:xfrm>
            <a:off x="152399" y="3048000"/>
            <a:ext cx="4269079" cy="2838270"/>
          </a:xfrm>
        </p:spPr>
      </p:pic>
      <p:pic>
        <p:nvPicPr>
          <p:cNvPr id="5" name="Picture 4" descr="rich area2.jpg"/>
          <p:cNvPicPr>
            <a:picLocks noChangeAspect="1"/>
          </p:cNvPicPr>
          <p:nvPr/>
        </p:nvPicPr>
        <p:blipFill>
          <a:blip r:embed="rId3" cstate="print"/>
          <a:stretch>
            <a:fillRect/>
          </a:stretch>
        </p:blipFill>
        <p:spPr>
          <a:xfrm>
            <a:off x="4648200" y="3047238"/>
            <a:ext cx="4214884" cy="2823972"/>
          </a:xfrm>
          <a:prstGeom prst="rect">
            <a:avLst/>
          </a:prstGeom>
        </p:spPr>
      </p:pic>
      <p:sp>
        <p:nvSpPr>
          <p:cNvPr id="6" name="TextBox 5"/>
          <p:cNvSpPr txBox="1"/>
          <p:nvPr/>
        </p:nvSpPr>
        <p:spPr>
          <a:xfrm>
            <a:off x="457200" y="1600200"/>
            <a:ext cx="8229600" cy="1015663"/>
          </a:xfrm>
          <a:prstGeom prst="rect">
            <a:avLst/>
          </a:prstGeom>
          <a:noFill/>
        </p:spPr>
        <p:txBody>
          <a:bodyPr wrap="square" rtlCol="0">
            <a:spAutoFit/>
          </a:bodyPr>
          <a:lstStyle/>
          <a:p>
            <a:pPr lvl="1"/>
            <a:r>
              <a:rPr lang="en-US" sz="2000" dirty="0" smtClean="0"/>
              <a:t>Colloquially, most or us are aware of what is considered to be a “poor area” or a “rich area”.  This article strives to </a:t>
            </a:r>
            <a:r>
              <a:rPr lang="en-US" sz="2000" u="sng" dirty="0" smtClean="0"/>
              <a:t>quantify</a:t>
            </a:r>
            <a:r>
              <a:rPr lang="en-US" sz="2000" dirty="0" smtClean="0"/>
              <a:t> how poor and non poor areas are distributed and isolated.</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Why study  Segregation of “Rich” and “Poor” Areas</a:t>
            </a:r>
            <a:endParaRPr lang="en-US" sz="3600" dirty="0"/>
          </a:p>
        </p:txBody>
      </p:sp>
      <p:sp>
        <p:nvSpPr>
          <p:cNvPr id="3" name="Content Placeholder 2"/>
          <p:cNvSpPr>
            <a:spLocks noGrp="1"/>
          </p:cNvSpPr>
          <p:nvPr>
            <p:ph idx="1"/>
          </p:nvPr>
        </p:nvSpPr>
        <p:spPr>
          <a:xfrm>
            <a:off x="457200" y="1600200"/>
            <a:ext cx="8229600" cy="4724400"/>
          </a:xfrm>
        </p:spPr>
        <p:txBody>
          <a:bodyPr>
            <a:normAutofit fontScale="92500" lnSpcReduction="10000"/>
          </a:bodyPr>
          <a:lstStyle/>
          <a:p>
            <a:r>
              <a:rPr lang="en-US" dirty="0"/>
              <a:t>This article analyzes the segregation of the poor in major cities across all parts of the United </a:t>
            </a:r>
            <a:r>
              <a:rPr lang="en-US" dirty="0" smtClean="0"/>
              <a:t>States and analyzes the trends from 1970-1990.</a:t>
            </a:r>
          </a:p>
          <a:p>
            <a:r>
              <a:rPr lang="en-US" dirty="0" smtClean="0"/>
              <a:t>In this study, the “poor” are defined as persons that are below the poverty line.  Note: the poverty line was not defined in this article.</a:t>
            </a:r>
          </a:p>
          <a:p>
            <a:r>
              <a:rPr lang="en-US" dirty="0" smtClean="0"/>
              <a:t>This data can be used by policy makers in decisions regarding funding and can be used as indicators on whether current policies are working or not.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Why study  Segregation of “Rich” and “Poor” Areas (cont.)</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Separation of poor from the </a:t>
            </a:r>
            <a:r>
              <a:rPr lang="en-US" dirty="0" err="1" smtClean="0"/>
              <a:t>nonpoor</a:t>
            </a:r>
            <a:r>
              <a:rPr lang="en-US" dirty="0" smtClean="0"/>
              <a:t> has several unfortunate consequences</a:t>
            </a:r>
          </a:p>
          <a:p>
            <a:pPr lvl="1"/>
            <a:r>
              <a:rPr lang="en-US" i="1" dirty="0" smtClean="0"/>
              <a:t>Isolates them in distressed areas</a:t>
            </a:r>
            <a:r>
              <a:rPr lang="en-US" u="sng" dirty="0" smtClean="0"/>
              <a:t> </a:t>
            </a:r>
            <a:r>
              <a:rPr lang="en-US" dirty="0" smtClean="0"/>
              <a:t>where the neighborhood effects of living among negative role models may subvert positive individual or family efforts</a:t>
            </a:r>
          </a:p>
          <a:p>
            <a:pPr lvl="1"/>
            <a:r>
              <a:rPr lang="en-US" dirty="0" smtClean="0"/>
              <a:t>Isolated poor communities may be </a:t>
            </a:r>
            <a:r>
              <a:rPr lang="en-US" i="1" dirty="0" smtClean="0"/>
              <a:t>inadequately served by underfunded public institutions</a:t>
            </a:r>
            <a:r>
              <a:rPr lang="en-US" dirty="0" smtClean="0"/>
              <a:t> that do little help residents break out of distressed neighborhoods.</a:t>
            </a:r>
          </a:p>
          <a:p>
            <a:pPr lvl="1"/>
            <a:r>
              <a:rPr lang="en-US" dirty="0" smtClean="0"/>
              <a:t>Leave them more susceptible to the harmful effects of economic downturn.  They have </a:t>
            </a:r>
            <a:r>
              <a:rPr lang="en-US" i="1" dirty="0" smtClean="0"/>
              <a:t>fewer neighborhood resources </a:t>
            </a:r>
            <a:r>
              <a:rPr lang="en-US" dirty="0" smtClean="0"/>
              <a:t>to call on to relieve dislocations.</a:t>
            </a:r>
          </a:p>
          <a:p>
            <a:pPr lvl="1"/>
            <a:r>
              <a:rPr lang="en-US" dirty="0" smtClean="0"/>
              <a:t>May reinforce </a:t>
            </a:r>
            <a:r>
              <a:rPr lang="en-US" i="1" dirty="0" smtClean="0"/>
              <a:t>negative stereotypes of the poor </a:t>
            </a:r>
            <a:r>
              <a:rPr lang="en-US" dirty="0" smtClean="0"/>
              <a:t>and weaken the bonds between the poor and </a:t>
            </a:r>
            <a:r>
              <a:rPr lang="en-US" dirty="0" err="1" smtClean="0"/>
              <a:t>nonpoor</a:t>
            </a:r>
            <a:r>
              <a:rPr lang="en-US" dirty="0" smtClean="0"/>
              <a:t> that allow the two groups to live in relative peace.</a:t>
            </a:r>
          </a:p>
          <a:p>
            <a:pPr lvl="1"/>
            <a:r>
              <a:rPr lang="en-US" dirty="0" smtClean="0"/>
              <a:t>scarcity of positive role models</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Segregation Indices</a:t>
            </a:r>
            <a:endParaRPr lang="en-US" dirty="0"/>
          </a:p>
        </p:txBody>
      </p:sp>
      <p:sp>
        <p:nvSpPr>
          <p:cNvPr id="3" name="Content Placeholder 2"/>
          <p:cNvSpPr>
            <a:spLocks noGrp="1"/>
          </p:cNvSpPr>
          <p:nvPr>
            <p:ph idx="1"/>
          </p:nvPr>
        </p:nvSpPr>
        <p:spPr>
          <a:xfrm>
            <a:off x="457200" y="1371600"/>
            <a:ext cx="8229600" cy="2667000"/>
          </a:xfrm>
        </p:spPr>
        <p:txBody>
          <a:bodyPr>
            <a:normAutofit fontScale="55000" lnSpcReduction="20000"/>
          </a:bodyPr>
          <a:lstStyle/>
          <a:p>
            <a:r>
              <a:rPr lang="en-US" dirty="0"/>
              <a:t>The </a:t>
            </a:r>
            <a:r>
              <a:rPr lang="en-US" i="1" u="sng" dirty="0"/>
              <a:t>dissimilarity index</a:t>
            </a:r>
            <a:r>
              <a:rPr lang="en-US" i="1" dirty="0"/>
              <a:t> </a:t>
            </a:r>
            <a:r>
              <a:rPr lang="en-US" dirty="0"/>
              <a:t>measures the evenness of the distribution of the poor within a metropolitan area.  The dissimilarity index describes </a:t>
            </a:r>
            <a:r>
              <a:rPr lang="en-US" i="1" dirty="0"/>
              <a:t>the percentage of poor people that would have to move from one census tract to another to achieve an even distribution</a:t>
            </a:r>
            <a:r>
              <a:rPr lang="en-US" dirty="0"/>
              <a:t>.  A dissimilarity index of 0 means that the poor are perfectly distributed throughout all census tracts.  A dissimilarity index of 100 means that 100 percent of all the poor need to move to achieve an even distribution</a:t>
            </a:r>
            <a:r>
              <a:rPr lang="en-US" dirty="0" smtClean="0"/>
              <a:t>.</a:t>
            </a:r>
          </a:p>
          <a:p>
            <a:endParaRPr lang="en-US" dirty="0"/>
          </a:p>
          <a:p>
            <a:r>
              <a:rPr lang="en-US" dirty="0"/>
              <a:t>The </a:t>
            </a:r>
            <a:r>
              <a:rPr lang="en-US" u="sng" dirty="0"/>
              <a:t>isolation index</a:t>
            </a:r>
            <a:r>
              <a:rPr lang="en-US" dirty="0"/>
              <a:t> in this article measures the </a:t>
            </a:r>
            <a:r>
              <a:rPr lang="en-US" i="1" dirty="0"/>
              <a:t>extent to which the poor are exposed in their neighborhoods to other poor people</a:t>
            </a:r>
            <a:r>
              <a:rPr lang="en-US" dirty="0"/>
              <a:t>.  This index varies from 0 to 100.  Zero indicates someone completely around people other than poor and 100 indicates complete isolation of the poor from everyone else.</a:t>
            </a:r>
          </a:p>
        </p:txBody>
      </p:sp>
      <p:pic>
        <p:nvPicPr>
          <p:cNvPr id="5" name="Picture 2"/>
          <p:cNvPicPr>
            <a:picLocks noChangeAspect="1" noChangeArrowheads="1"/>
          </p:cNvPicPr>
          <p:nvPr/>
        </p:nvPicPr>
        <p:blipFill>
          <a:blip r:embed="rId2" cstate="print"/>
          <a:srcRect l="29390" t="66129" r="27934" b="4838"/>
          <a:stretch>
            <a:fillRect/>
          </a:stretch>
        </p:blipFill>
        <p:spPr bwMode="auto">
          <a:xfrm>
            <a:off x="76200" y="4343400"/>
            <a:ext cx="4038600" cy="1800225"/>
          </a:xfrm>
          <a:prstGeom prst="rect">
            <a:avLst/>
          </a:prstGeom>
          <a:noFill/>
          <a:ln w="9525">
            <a:noFill/>
            <a:miter lim="800000"/>
            <a:headEnd/>
            <a:tailEnd/>
          </a:ln>
        </p:spPr>
      </p:pic>
      <p:pic>
        <p:nvPicPr>
          <p:cNvPr id="6" name="Picture 3"/>
          <p:cNvPicPr>
            <a:picLocks noChangeAspect="1" noChangeArrowheads="1"/>
          </p:cNvPicPr>
          <p:nvPr/>
        </p:nvPicPr>
        <p:blipFill>
          <a:blip r:embed="rId3" cstate="print"/>
          <a:srcRect l="30293" t="65546" r="28487" b="6951"/>
          <a:stretch>
            <a:fillRect/>
          </a:stretch>
        </p:blipFill>
        <p:spPr bwMode="auto">
          <a:xfrm>
            <a:off x="4362073" y="4343400"/>
            <a:ext cx="4705727" cy="205740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Dissimilarity and Isolation of Poor in Selected Cities</a:t>
            </a:r>
            <a:endParaRPr lang="en-US" dirty="0"/>
          </a:p>
        </p:txBody>
      </p:sp>
      <p:sp>
        <p:nvSpPr>
          <p:cNvPr id="3" name="Content Placeholder 2"/>
          <p:cNvSpPr>
            <a:spLocks noGrp="1"/>
          </p:cNvSpPr>
          <p:nvPr>
            <p:ph idx="1"/>
          </p:nvPr>
        </p:nvSpPr>
        <p:spPr>
          <a:xfrm>
            <a:off x="457200" y="1600201"/>
            <a:ext cx="8305800" cy="990600"/>
          </a:xfrm>
        </p:spPr>
        <p:txBody>
          <a:bodyPr>
            <a:normAutofit fontScale="55000" lnSpcReduction="20000"/>
          </a:bodyPr>
          <a:lstStyle/>
          <a:p>
            <a:pPr>
              <a:buNone/>
            </a:pPr>
            <a:r>
              <a:rPr lang="en-US" dirty="0" smtClean="0"/>
              <a:t>	</a:t>
            </a:r>
            <a:r>
              <a:rPr lang="en-US" dirty="0" smtClean="0">
                <a:solidFill>
                  <a:schemeClr val="accent1">
                    <a:lumMod val="75000"/>
                  </a:schemeClr>
                </a:solidFill>
              </a:rPr>
              <a:t>In raw numbers, 36.1 percent in 1990 meant that 5.7 million poor people would have to relocate to different neighborhoods within the same metropolitan area.  A value of 21.0 on the isolation index indicates that the neighborhood of an average poor person is 21.0 percent poor. </a:t>
            </a:r>
            <a:endParaRPr lang="en-US" dirty="0">
              <a:solidFill>
                <a:schemeClr val="accent1">
                  <a:lumMod val="75000"/>
                </a:schemeClr>
              </a:solidFill>
            </a:endParaRPr>
          </a:p>
        </p:txBody>
      </p:sp>
      <p:pic>
        <p:nvPicPr>
          <p:cNvPr id="4" name="Picture 3"/>
          <p:cNvPicPr>
            <a:picLocks noChangeAspect="1" noChangeArrowheads="1"/>
          </p:cNvPicPr>
          <p:nvPr/>
        </p:nvPicPr>
        <p:blipFill>
          <a:blip r:embed="rId2" cstate="print"/>
          <a:srcRect l="25710" t="20104" r="24927" b="35651"/>
          <a:stretch>
            <a:fillRect/>
          </a:stretch>
        </p:blipFill>
        <p:spPr bwMode="auto">
          <a:xfrm>
            <a:off x="2133600" y="2743200"/>
            <a:ext cx="4800600" cy="2819400"/>
          </a:xfrm>
          <a:prstGeom prst="rect">
            <a:avLst/>
          </a:prstGeom>
          <a:noFill/>
          <a:ln w="9525">
            <a:noFill/>
            <a:miter lim="800000"/>
            <a:headEnd/>
            <a:tailEnd/>
          </a:ln>
        </p:spPr>
      </p:pic>
      <p:pic>
        <p:nvPicPr>
          <p:cNvPr id="28674" name="Picture 2"/>
          <p:cNvPicPr>
            <a:picLocks noChangeAspect="1" noChangeArrowheads="1"/>
          </p:cNvPicPr>
          <p:nvPr/>
        </p:nvPicPr>
        <p:blipFill>
          <a:blip r:embed="rId3" cstate="print"/>
          <a:srcRect l="28208" t="45217" r="23996" b="38042"/>
          <a:stretch>
            <a:fillRect/>
          </a:stretch>
        </p:blipFill>
        <p:spPr bwMode="auto">
          <a:xfrm>
            <a:off x="2362200" y="5638800"/>
            <a:ext cx="4648200" cy="106680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Indices of Poor as Compared with Black and Hispanic Populations</a:t>
            </a:r>
            <a:endParaRPr lang="en-US" dirty="0"/>
          </a:p>
        </p:txBody>
      </p:sp>
      <p:sp>
        <p:nvSpPr>
          <p:cNvPr id="5" name="Content Placeholder 4"/>
          <p:cNvSpPr>
            <a:spLocks noGrp="1"/>
          </p:cNvSpPr>
          <p:nvPr>
            <p:ph idx="1"/>
          </p:nvPr>
        </p:nvSpPr>
        <p:spPr>
          <a:xfrm>
            <a:off x="533400" y="2057400"/>
            <a:ext cx="7620000" cy="914400"/>
          </a:xfrm>
        </p:spPr>
        <p:txBody>
          <a:bodyPr>
            <a:noAutofit/>
          </a:bodyPr>
          <a:lstStyle/>
          <a:p>
            <a:pPr>
              <a:buNone/>
            </a:pPr>
            <a:r>
              <a:rPr lang="en-US" sz="1800" dirty="0" smtClean="0"/>
              <a:t>	As seen on the table below, the dissimilarity and isolation of  the black population is much larger than the average poor person in the U.S. and the Hispanic </a:t>
            </a:r>
            <a:r>
              <a:rPr lang="en-US" sz="1800" dirty="0" smtClean="0"/>
              <a:t>population (1990). </a:t>
            </a:r>
            <a:endParaRPr lang="en-US" sz="1800" dirty="0"/>
          </a:p>
        </p:txBody>
      </p:sp>
      <p:graphicFrame>
        <p:nvGraphicFramePr>
          <p:cNvPr id="6" name="Table 5"/>
          <p:cNvGraphicFramePr>
            <a:graphicFrameLocks noGrp="1"/>
          </p:cNvGraphicFramePr>
          <p:nvPr/>
        </p:nvGraphicFramePr>
        <p:xfrm>
          <a:off x="990600" y="3276600"/>
          <a:ext cx="7078980" cy="1106424"/>
        </p:xfrm>
        <a:graphic>
          <a:graphicData uri="http://schemas.openxmlformats.org/drawingml/2006/table">
            <a:tbl>
              <a:tblPr/>
              <a:tblGrid>
                <a:gridCol w="2359660"/>
                <a:gridCol w="2359660"/>
                <a:gridCol w="2359660"/>
              </a:tblGrid>
              <a:tr h="276606">
                <a:tc>
                  <a:txBody>
                    <a:bodyPr/>
                    <a:lstStyle/>
                    <a:p>
                      <a:pPr marL="0" marR="0" algn="ctr">
                        <a:lnSpc>
                          <a:spcPct val="115000"/>
                        </a:lnSpc>
                        <a:spcBef>
                          <a:spcPts val="0"/>
                        </a:spcBef>
                        <a:spcAft>
                          <a:spcPts val="0"/>
                        </a:spcAft>
                      </a:pPr>
                      <a:r>
                        <a:rPr lang="en-US" sz="1200" b="1" dirty="0">
                          <a:latin typeface="Calibri"/>
                          <a:ea typeface="Calibri"/>
                          <a:cs typeface="Times New Roman"/>
                        </a:rPr>
                        <a:t>Race</a:t>
                      </a:r>
                      <a:endParaRPr lang="en-US"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b="1" dirty="0">
                          <a:latin typeface="Calibri"/>
                          <a:ea typeface="Calibri"/>
                          <a:cs typeface="Times New Roman"/>
                        </a:rPr>
                        <a:t>Dissimilarity</a:t>
                      </a:r>
                      <a:endParaRPr lang="en-US"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b="1" dirty="0">
                          <a:latin typeface="Calibri"/>
                          <a:ea typeface="Calibri"/>
                          <a:cs typeface="Times New Roman"/>
                        </a:rPr>
                        <a:t>Isolation</a:t>
                      </a:r>
                      <a:endParaRPr lang="en-US"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6606">
                <a:tc>
                  <a:txBody>
                    <a:bodyPr/>
                    <a:lstStyle/>
                    <a:p>
                      <a:pPr marL="0" marR="0">
                        <a:lnSpc>
                          <a:spcPct val="115000"/>
                        </a:lnSpc>
                        <a:spcBef>
                          <a:spcPts val="0"/>
                        </a:spcBef>
                        <a:spcAft>
                          <a:spcPts val="0"/>
                        </a:spcAft>
                      </a:pPr>
                      <a:r>
                        <a:rPr lang="en-US" sz="1200">
                          <a:latin typeface="Calibri"/>
                          <a:ea typeface="Calibri"/>
                          <a:cs typeface="Times New Roman"/>
                        </a:rPr>
                        <a:t>Black</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dirty="0">
                          <a:latin typeface="Calibri"/>
                          <a:ea typeface="Calibri"/>
                          <a:cs typeface="Times New Roman"/>
                        </a:rPr>
                        <a:t>60.2</a:t>
                      </a:r>
                      <a:endParaRPr lang="en-US"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Calibri"/>
                          <a:ea typeface="Calibri"/>
                          <a:cs typeface="Times New Roman"/>
                        </a:rPr>
                        <a:t>42.2</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6606">
                <a:tc>
                  <a:txBody>
                    <a:bodyPr/>
                    <a:lstStyle/>
                    <a:p>
                      <a:pPr marL="0" marR="0">
                        <a:lnSpc>
                          <a:spcPct val="115000"/>
                        </a:lnSpc>
                        <a:spcBef>
                          <a:spcPts val="0"/>
                        </a:spcBef>
                        <a:spcAft>
                          <a:spcPts val="0"/>
                        </a:spcAft>
                      </a:pPr>
                      <a:r>
                        <a:rPr lang="en-US" sz="1200">
                          <a:latin typeface="Calibri"/>
                          <a:ea typeface="Calibri"/>
                          <a:cs typeface="Times New Roman"/>
                        </a:rPr>
                        <a:t>Hispanic</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dirty="0">
                          <a:latin typeface="Calibri"/>
                          <a:ea typeface="Calibri"/>
                          <a:cs typeface="Times New Roman"/>
                        </a:rPr>
                        <a:t>39.1</a:t>
                      </a:r>
                      <a:endParaRPr lang="en-US"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Calibri"/>
                          <a:ea typeface="Calibri"/>
                          <a:cs typeface="Times New Roman"/>
                        </a:rPr>
                        <a:t>17.2</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6606">
                <a:tc>
                  <a:txBody>
                    <a:bodyPr/>
                    <a:lstStyle/>
                    <a:p>
                      <a:pPr marL="0" marR="0">
                        <a:lnSpc>
                          <a:spcPct val="115000"/>
                        </a:lnSpc>
                        <a:spcBef>
                          <a:spcPts val="0"/>
                        </a:spcBef>
                        <a:spcAft>
                          <a:spcPts val="0"/>
                        </a:spcAft>
                      </a:pPr>
                      <a:r>
                        <a:rPr lang="en-US" sz="1200">
                          <a:latin typeface="Calibri"/>
                          <a:ea typeface="Calibri"/>
                          <a:cs typeface="Times New Roman"/>
                        </a:rPr>
                        <a:t>Average Poor in US</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Calibri"/>
                          <a:ea typeface="Calibri"/>
                          <a:cs typeface="Times New Roman"/>
                        </a:rPr>
                        <a:t>36.1</a:t>
                      </a:r>
                      <a:endParaRPr lang="en-US"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dirty="0">
                          <a:latin typeface="Calibri"/>
                          <a:ea typeface="Calibri"/>
                          <a:cs typeface="Times New Roman"/>
                        </a:rPr>
                        <a:t>21.0</a:t>
                      </a:r>
                      <a:endParaRPr lang="en-US"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7" name="TextBox 6"/>
          <p:cNvSpPr txBox="1"/>
          <p:nvPr/>
        </p:nvSpPr>
        <p:spPr>
          <a:xfrm>
            <a:off x="533400" y="4495800"/>
            <a:ext cx="7239000" cy="2308324"/>
          </a:xfrm>
          <a:prstGeom prst="rect">
            <a:avLst/>
          </a:prstGeom>
          <a:noFill/>
        </p:spPr>
        <p:txBody>
          <a:bodyPr wrap="square" rtlCol="0">
            <a:spAutoFit/>
          </a:bodyPr>
          <a:lstStyle/>
          <a:p>
            <a:pPr lvl="2"/>
            <a:r>
              <a:rPr lang="en-US" dirty="0"/>
              <a:t>While segregation of the poor increased, the segregation of blacks decreased.  The dissimilarity of blacks fell by 7.2 (11 percent).  For non whites, the dissimilarity fell by 15.8 (23 percent) from 1970-1990. </a:t>
            </a:r>
            <a:endParaRPr lang="en-US" dirty="0" smtClean="0"/>
          </a:p>
          <a:p>
            <a:pPr lvl="2"/>
            <a:r>
              <a:rPr lang="en-US" dirty="0" smtClean="0"/>
              <a:t> </a:t>
            </a:r>
          </a:p>
          <a:p>
            <a:pPr lvl="2"/>
            <a:r>
              <a:rPr lang="en-US" dirty="0" smtClean="0"/>
              <a:t>A </a:t>
            </a:r>
            <a:r>
              <a:rPr lang="en-US" dirty="0"/>
              <a:t>partial explanation for this is that fair housing laws have permitted blacks </a:t>
            </a:r>
            <a:r>
              <a:rPr lang="en-US" dirty="0" smtClean="0"/>
              <a:t>and </a:t>
            </a:r>
            <a:r>
              <a:rPr lang="en-US" dirty="0"/>
              <a:t>other minorities to move to more integrated suburban areas from poorer areas.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Dissimilarity Indices compared with other known indicators of poorer neighborhoods</a:t>
            </a:r>
            <a:endParaRPr lang="en-US" sz="3600" dirty="0"/>
          </a:p>
        </p:txBody>
      </p:sp>
      <p:sp>
        <p:nvSpPr>
          <p:cNvPr id="3" name="Content Placeholder 2"/>
          <p:cNvSpPr>
            <a:spLocks noGrp="1"/>
          </p:cNvSpPr>
          <p:nvPr>
            <p:ph idx="1"/>
          </p:nvPr>
        </p:nvSpPr>
        <p:spPr>
          <a:xfrm>
            <a:off x="457200" y="1600200"/>
            <a:ext cx="8229600" cy="1676400"/>
          </a:xfrm>
        </p:spPr>
        <p:txBody>
          <a:bodyPr>
            <a:normAutofit fontScale="62500" lnSpcReduction="20000"/>
          </a:bodyPr>
          <a:lstStyle/>
          <a:p>
            <a:pPr>
              <a:buNone/>
            </a:pPr>
            <a:r>
              <a:rPr lang="en-US" dirty="0" smtClean="0"/>
              <a:t>	</a:t>
            </a:r>
            <a:r>
              <a:rPr lang="en-US" dirty="0" smtClean="0">
                <a:solidFill>
                  <a:schemeClr val="accent1">
                    <a:lumMod val="75000"/>
                  </a:schemeClr>
                </a:solidFill>
              </a:rPr>
              <a:t>One </a:t>
            </a:r>
            <a:r>
              <a:rPr lang="en-US" dirty="0">
                <a:solidFill>
                  <a:schemeClr val="accent1">
                    <a:lumMod val="75000"/>
                  </a:schemeClr>
                </a:solidFill>
              </a:rPr>
              <a:t>concern that might affect the numbers in this study is what is considered “short term poor”.  These are people who are temporarily misplaced because of layoffs or other factors.  To alleviate this, the authors compared factors that are considered more permanent indicators of poor such as the number of high school dropouts and Welfare recipients.</a:t>
            </a:r>
          </a:p>
        </p:txBody>
      </p:sp>
      <p:pic>
        <p:nvPicPr>
          <p:cNvPr id="18434" name="Picture 2"/>
          <p:cNvPicPr>
            <a:picLocks noChangeAspect="1" noChangeArrowheads="1"/>
          </p:cNvPicPr>
          <p:nvPr/>
        </p:nvPicPr>
        <p:blipFill>
          <a:blip r:embed="rId2" cstate="print"/>
          <a:srcRect l="27424" t="30867" r="23996" b="32063"/>
          <a:stretch>
            <a:fillRect/>
          </a:stretch>
        </p:blipFill>
        <p:spPr bwMode="auto">
          <a:xfrm>
            <a:off x="2209800" y="3200400"/>
            <a:ext cx="4724400" cy="236220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Metro areas with highest Segregation Indices</a:t>
            </a:r>
            <a:endParaRPr lang="en-US" dirty="0"/>
          </a:p>
        </p:txBody>
      </p:sp>
      <p:sp>
        <p:nvSpPr>
          <p:cNvPr id="3" name="Content Placeholder 2"/>
          <p:cNvSpPr>
            <a:spLocks noGrp="1"/>
          </p:cNvSpPr>
          <p:nvPr>
            <p:ph idx="1"/>
          </p:nvPr>
        </p:nvSpPr>
        <p:spPr>
          <a:xfrm>
            <a:off x="457200" y="1600200"/>
            <a:ext cx="8382000" cy="914400"/>
          </a:xfrm>
        </p:spPr>
        <p:txBody>
          <a:bodyPr>
            <a:normAutofit fontScale="55000" lnSpcReduction="20000"/>
          </a:bodyPr>
          <a:lstStyle/>
          <a:p>
            <a:pPr>
              <a:buNone/>
            </a:pPr>
            <a:r>
              <a:rPr lang="en-US" dirty="0" smtClean="0"/>
              <a:t>	</a:t>
            </a:r>
            <a:r>
              <a:rPr lang="en-US" dirty="0" smtClean="0">
                <a:solidFill>
                  <a:schemeClr val="accent1">
                    <a:lumMod val="75000"/>
                  </a:schemeClr>
                </a:solidFill>
              </a:rPr>
              <a:t>The segregation indices varied greatly among metropolitan areas.  Dissimilarity index range was from 19.6 (Bristol TN-VA) to 55.1 (Milwaukee).  The Isolation Index ranged from 7.1 (Nassau-Suffolk, NY) to 35.4 (El Paso, TX).</a:t>
            </a:r>
            <a:endParaRPr lang="en-US" dirty="0">
              <a:solidFill>
                <a:schemeClr val="accent1">
                  <a:lumMod val="75000"/>
                </a:schemeClr>
              </a:solidFill>
            </a:endParaRPr>
          </a:p>
        </p:txBody>
      </p:sp>
      <p:pic>
        <p:nvPicPr>
          <p:cNvPr id="19458" name="Picture 2"/>
          <p:cNvPicPr>
            <a:picLocks noChangeAspect="1" noChangeArrowheads="1"/>
          </p:cNvPicPr>
          <p:nvPr/>
        </p:nvPicPr>
        <p:blipFill>
          <a:blip r:embed="rId2" cstate="print"/>
          <a:srcRect l="28208" t="26084" r="26347" b="20105"/>
          <a:stretch>
            <a:fillRect/>
          </a:stretch>
        </p:blipFill>
        <p:spPr bwMode="auto">
          <a:xfrm>
            <a:off x="0" y="2514600"/>
            <a:ext cx="4419600" cy="3429000"/>
          </a:xfrm>
          <a:prstGeom prst="rect">
            <a:avLst/>
          </a:prstGeom>
          <a:noFill/>
          <a:ln w="9525">
            <a:noFill/>
            <a:miter lim="800000"/>
            <a:headEnd/>
            <a:tailEnd/>
          </a:ln>
        </p:spPr>
      </p:pic>
      <p:pic>
        <p:nvPicPr>
          <p:cNvPr id="5" name="Picture 2"/>
          <p:cNvPicPr>
            <a:picLocks noChangeAspect="1" noChangeArrowheads="1"/>
          </p:cNvPicPr>
          <p:nvPr/>
        </p:nvPicPr>
        <p:blipFill>
          <a:blip r:embed="rId3" cstate="print"/>
          <a:srcRect l="28991" t="26084" r="24780" b="20105"/>
          <a:stretch>
            <a:fillRect/>
          </a:stretch>
        </p:blipFill>
        <p:spPr bwMode="auto">
          <a:xfrm>
            <a:off x="4267200" y="2514600"/>
            <a:ext cx="4495800" cy="342900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smtClean="0"/>
              <a:t>Change in Dissimilarity and Isolation Indices of the Poor for Selected Metro Areas 1970-1990</a:t>
            </a:r>
            <a:endParaRPr lang="en-US" sz="3600" dirty="0"/>
          </a:p>
        </p:txBody>
      </p:sp>
      <p:sp>
        <p:nvSpPr>
          <p:cNvPr id="3" name="Content Placeholder 2"/>
          <p:cNvSpPr>
            <a:spLocks noGrp="1"/>
          </p:cNvSpPr>
          <p:nvPr>
            <p:ph idx="1"/>
          </p:nvPr>
        </p:nvSpPr>
        <p:spPr>
          <a:xfrm>
            <a:off x="457200" y="1752600"/>
            <a:ext cx="8229600" cy="914399"/>
          </a:xfrm>
        </p:spPr>
        <p:txBody>
          <a:bodyPr>
            <a:normAutofit/>
          </a:bodyPr>
          <a:lstStyle/>
          <a:p>
            <a:pPr>
              <a:buNone/>
            </a:pPr>
            <a:r>
              <a:rPr lang="en-US" dirty="0" smtClean="0"/>
              <a:t>	</a:t>
            </a:r>
            <a:endParaRPr lang="en-US" dirty="0"/>
          </a:p>
        </p:txBody>
      </p:sp>
      <p:pic>
        <p:nvPicPr>
          <p:cNvPr id="23554" name="Picture 2"/>
          <p:cNvPicPr>
            <a:picLocks noChangeAspect="1" noChangeArrowheads="1"/>
          </p:cNvPicPr>
          <p:nvPr/>
        </p:nvPicPr>
        <p:blipFill>
          <a:blip r:embed="rId2" cstate="print"/>
          <a:srcRect l="27424" t="24888" r="26374" b="38640"/>
          <a:stretch>
            <a:fillRect/>
          </a:stretch>
        </p:blipFill>
        <p:spPr bwMode="auto">
          <a:xfrm>
            <a:off x="0" y="1828800"/>
            <a:ext cx="4191000" cy="2286000"/>
          </a:xfrm>
          <a:prstGeom prst="rect">
            <a:avLst/>
          </a:prstGeom>
          <a:noFill/>
          <a:ln w="9525">
            <a:noFill/>
            <a:miter lim="800000"/>
            <a:headEnd/>
            <a:tailEnd/>
          </a:ln>
        </p:spPr>
      </p:pic>
      <p:pic>
        <p:nvPicPr>
          <p:cNvPr id="23555" name="Picture 3"/>
          <p:cNvPicPr>
            <a:picLocks noChangeAspect="1" noChangeArrowheads="1"/>
          </p:cNvPicPr>
          <p:nvPr/>
        </p:nvPicPr>
        <p:blipFill>
          <a:blip r:embed="rId3" cstate="print"/>
          <a:srcRect l="28208" t="39237" r="25563" b="39238"/>
          <a:stretch>
            <a:fillRect/>
          </a:stretch>
        </p:blipFill>
        <p:spPr bwMode="auto">
          <a:xfrm>
            <a:off x="76200" y="4139293"/>
            <a:ext cx="4191000" cy="1347107"/>
          </a:xfrm>
          <a:prstGeom prst="rect">
            <a:avLst/>
          </a:prstGeom>
          <a:noFill/>
          <a:ln w="9525">
            <a:noFill/>
            <a:miter lim="800000"/>
            <a:headEnd/>
            <a:tailEnd/>
          </a:ln>
        </p:spPr>
      </p:pic>
      <p:pic>
        <p:nvPicPr>
          <p:cNvPr id="6" name="Picture 4"/>
          <p:cNvPicPr>
            <a:picLocks noChangeAspect="1" noChangeArrowheads="1"/>
          </p:cNvPicPr>
          <p:nvPr/>
        </p:nvPicPr>
        <p:blipFill>
          <a:blip r:embed="rId4" cstate="print"/>
          <a:srcRect l="28991" t="26084" r="24780" b="30867"/>
          <a:stretch>
            <a:fillRect/>
          </a:stretch>
        </p:blipFill>
        <p:spPr bwMode="auto">
          <a:xfrm>
            <a:off x="4114800" y="1905000"/>
            <a:ext cx="4495800" cy="2743200"/>
          </a:xfrm>
          <a:prstGeom prst="rect">
            <a:avLst/>
          </a:prstGeom>
          <a:noFill/>
          <a:ln w="9525">
            <a:noFill/>
            <a:miter lim="800000"/>
            <a:headEnd/>
            <a:tailEnd/>
          </a:ln>
        </p:spPr>
      </p:pic>
      <p:pic>
        <p:nvPicPr>
          <p:cNvPr id="7" name="Picture 3"/>
          <p:cNvPicPr>
            <a:picLocks noChangeAspect="1" noChangeArrowheads="1"/>
          </p:cNvPicPr>
          <p:nvPr/>
        </p:nvPicPr>
        <p:blipFill>
          <a:blip r:embed="rId5" cstate="print"/>
          <a:srcRect l="27424" t="41630" r="24780" b="41629"/>
          <a:stretch>
            <a:fillRect/>
          </a:stretch>
        </p:blipFill>
        <p:spPr bwMode="auto">
          <a:xfrm>
            <a:off x="3962400" y="4724400"/>
            <a:ext cx="4648200" cy="106680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Change in Dissimilarity and Isolation Indices of the Poor for 1970-1990 – Top Metro Areas</a:t>
            </a:r>
            <a:endParaRPr lang="en-US" sz="3200" dirty="0"/>
          </a:p>
        </p:txBody>
      </p:sp>
      <p:sp>
        <p:nvSpPr>
          <p:cNvPr id="3" name="Content Placeholder 2"/>
          <p:cNvSpPr>
            <a:spLocks noGrp="1"/>
          </p:cNvSpPr>
          <p:nvPr>
            <p:ph idx="1"/>
          </p:nvPr>
        </p:nvSpPr>
        <p:spPr>
          <a:xfrm>
            <a:off x="457200" y="1828800"/>
            <a:ext cx="8229600" cy="914400"/>
          </a:xfrm>
        </p:spPr>
        <p:txBody>
          <a:bodyPr>
            <a:normAutofit fontScale="62500" lnSpcReduction="20000"/>
          </a:bodyPr>
          <a:lstStyle/>
          <a:p>
            <a:pPr>
              <a:buNone/>
            </a:pPr>
            <a:r>
              <a:rPr lang="en-US" dirty="0" smtClean="0"/>
              <a:t>	</a:t>
            </a:r>
            <a:r>
              <a:rPr lang="en-US" dirty="0" smtClean="0">
                <a:solidFill>
                  <a:schemeClr val="accent1">
                    <a:lumMod val="75000"/>
                  </a:schemeClr>
                </a:solidFill>
              </a:rPr>
              <a:t>Milwaukee experienced the largest increase in the dissimilarity of the poor (16.3) and isolation of the poor (15.3).  The largest decrease was Tulsa (-6.0).  The largest decrease of isolation was Charleston, SC (-12.2)</a:t>
            </a:r>
            <a:endParaRPr lang="en-US" dirty="0">
              <a:solidFill>
                <a:schemeClr val="accent1">
                  <a:lumMod val="75000"/>
                </a:schemeClr>
              </a:solidFill>
            </a:endParaRPr>
          </a:p>
        </p:txBody>
      </p:sp>
      <p:pic>
        <p:nvPicPr>
          <p:cNvPr id="25602" name="Picture 2"/>
          <p:cNvPicPr>
            <a:picLocks noChangeAspect="1" noChangeArrowheads="1"/>
          </p:cNvPicPr>
          <p:nvPr/>
        </p:nvPicPr>
        <p:blipFill>
          <a:blip r:embed="rId2" cstate="print"/>
          <a:srcRect l="27424" t="24888" r="25564" b="15321"/>
          <a:stretch>
            <a:fillRect/>
          </a:stretch>
        </p:blipFill>
        <p:spPr bwMode="auto">
          <a:xfrm>
            <a:off x="228600" y="2667000"/>
            <a:ext cx="4572000" cy="3810000"/>
          </a:xfrm>
          <a:prstGeom prst="rect">
            <a:avLst/>
          </a:prstGeom>
          <a:noFill/>
          <a:ln w="9525">
            <a:noFill/>
            <a:miter lim="800000"/>
            <a:headEnd/>
            <a:tailEnd/>
          </a:ln>
        </p:spPr>
      </p:pic>
      <p:pic>
        <p:nvPicPr>
          <p:cNvPr id="5" name="Picture 2"/>
          <p:cNvPicPr>
            <a:picLocks noChangeAspect="1" noChangeArrowheads="1"/>
          </p:cNvPicPr>
          <p:nvPr/>
        </p:nvPicPr>
        <p:blipFill>
          <a:blip r:embed="rId3" cstate="print"/>
          <a:srcRect l="28991" t="24888" r="25563" b="16517"/>
          <a:stretch>
            <a:fillRect/>
          </a:stretch>
        </p:blipFill>
        <p:spPr bwMode="auto">
          <a:xfrm>
            <a:off x="4724400" y="2743200"/>
            <a:ext cx="4419600" cy="3733800"/>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1143000"/>
          </a:xfrm>
        </p:spPr>
        <p:txBody>
          <a:bodyPr>
            <a:noAutofit/>
          </a:bodyPr>
          <a:lstStyle/>
          <a:p>
            <a:r>
              <a:rPr lang="en-US" sz="3200" dirty="0" smtClean="0"/>
              <a:t>Regression Analysis of Selected Metro Area Characteristics and Dissimilarity of the Poor</a:t>
            </a:r>
            <a:endParaRPr lang="en-US" sz="3200" dirty="0"/>
          </a:p>
        </p:txBody>
      </p:sp>
      <p:sp>
        <p:nvSpPr>
          <p:cNvPr id="3" name="Content Placeholder 2"/>
          <p:cNvSpPr>
            <a:spLocks noGrp="1"/>
          </p:cNvSpPr>
          <p:nvPr>
            <p:ph idx="1"/>
          </p:nvPr>
        </p:nvSpPr>
        <p:spPr>
          <a:xfrm>
            <a:off x="457200" y="1600200"/>
            <a:ext cx="8382000" cy="1752600"/>
          </a:xfrm>
        </p:spPr>
        <p:txBody>
          <a:bodyPr>
            <a:normAutofit fontScale="32500" lnSpcReduction="20000"/>
          </a:bodyPr>
          <a:lstStyle/>
          <a:p>
            <a:r>
              <a:rPr lang="en-US" sz="4500" dirty="0" smtClean="0">
                <a:solidFill>
                  <a:schemeClr val="accent1">
                    <a:lumMod val="75000"/>
                  </a:schemeClr>
                </a:solidFill>
              </a:rPr>
              <a:t>The dissimilarity of the poor in 1990 is higher in areas that experienced larger increases in poverty rate. </a:t>
            </a:r>
          </a:p>
          <a:p>
            <a:r>
              <a:rPr lang="en-US" sz="4500" dirty="0" smtClean="0">
                <a:solidFill>
                  <a:schemeClr val="accent1">
                    <a:lumMod val="75000"/>
                  </a:schemeClr>
                </a:solidFill>
              </a:rPr>
              <a:t>The poor are more segregated in areas with larger percentages of blacks in the population.  Thus the level of black segregation in an area is apt to have some effect on the level of segregation of the poor in the area.</a:t>
            </a:r>
          </a:p>
          <a:p>
            <a:r>
              <a:rPr lang="en-US" sz="4500" dirty="0" smtClean="0">
                <a:solidFill>
                  <a:schemeClr val="accent1">
                    <a:lumMod val="75000"/>
                  </a:schemeClr>
                </a:solidFill>
              </a:rPr>
              <a:t>T</a:t>
            </a:r>
            <a:r>
              <a:rPr lang="en-US" sz="4500" dirty="0" smtClean="0">
                <a:solidFill>
                  <a:schemeClr val="accent1">
                    <a:lumMod val="75000"/>
                  </a:schemeClr>
                </a:solidFill>
              </a:rPr>
              <a:t>he isolation of the poor in 1990 is significantly related to 1990 poverty rate.</a:t>
            </a:r>
          </a:p>
          <a:p>
            <a:r>
              <a:rPr lang="en-US" sz="4500" dirty="0" smtClean="0">
                <a:solidFill>
                  <a:schemeClr val="accent1">
                    <a:lumMod val="75000"/>
                  </a:schemeClr>
                </a:solidFill>
              </a:rPr>
              <a:t>The are poor are significantly more isolated in the Midwest are than the North-east areas.</a:t>
            </a:r>
            <a:endParaRPr lang="en-US" sz="4500" dirty="0">
              <a:solidFill>
                <a:schemeClr val="accent1">
                  <a:lumMod val="75000"/>
                </a:schemeClr>
              </a:solidFill>
            </a:endParaRPr>
          </a:p>
        </p:txBody>
      </p:sp>
      <p:pic>
        <p:nvPicPr>
          <p:cNvPr id="21506" name="Picture 2"/>
          <p:cNvPicPr>
            <a:picLocks noChangeAspect="1" noChangeArrowheads="1"/>
          </p:cNvPicPr>
          <p:nvPr/>
        </p:nvPicPr>
        <p:blipFill>
          <a:blip r:embed="rId2" cstate="print"/>
          <a:srcRect l="28208" t="20105" r="25563" b="30867"/>
          <a:stretch>
            <a:fillRect/>
          </a:stretch>
        </p:blipFill>
        <p:spPr bwMode="auto">
          <a:xfrm>
            <a:off x="152400" y="3276600"/>
            <a:ext cx="4276492" cy="2971800"/>
          </a:xfrm>
          <a:prstGeom prst="rect">
            <a:avLst/>
          </a:prstGeom>
          <a:noFill/>
          <a:ln w="9525">
            <a:noFill/>
            <a:miter lim="800000"/>
            <a:headEnd/>
            <a:tailEnd/>
          </a:ln>
        </p:spPr>
      </p:pic>
      <p:pic>
        <p:nvPicPr>
          <p:cNvPr id="5" name="Picture 2"/>
          <p:cNvPicPr>
            <a:picLocks noChangeAspect="1" noChangeArrowheads="1"/>
          </p:cNvPicPr>
          <p:nvPr/>
        </p:nvPicPr>
        <p:blipFill>
          <a:blip r:embed="rId3" cstate="print"/>
          <a:srcRect l="28991" t="44021" r="25563" b="8146"/>
          <a:stretch>
            <a:fillRect/>
          </a:stretch>
        </p:blipFill>
        <p:spPr bwMode="auto">
          <a:xfrm>
            <a:off x="4419600" y="3429000"/>
            <a:ext cx="4419600" cy="3048000"/>
          </a:xfrm>
          <a:prstGeom prst="rect">
            <a:avLst/>
          </a:prstGeom>
          <a:noFill/>
          <a:ln w="9525">
            <a:noFill/>
            <a:miter lim="800000"/>
            <a:headEnd/>
            <a:tailEnd/>
          </a:ln>
        </p:spPr>
      </p:pic>
      <p:cxnSp>
        <p:nvCxnSpPr>
          <p:cNvPr id="14" name="Straight Arrow Connector 13"/>
          <p:cNvCxnSpPr/>
          <p:nvPr/>
        </p:nvCxnSpPr>
        <p:spPr>
          <a:xfrm>
            <a:off x="4419600" y="4572000"/>
            <a:ext cx="304800" cy="1588"/>
          </a:xfrm>
          <a:prstGeom prst="straightConnector1">
            <a:avLst/>
          </a:prstGeom>
          <a:ln>
            <a:tailEnd type="arrow"/>
          </a:ln>
        </p:spPr>
        <p:style>
          <a:lnRef idx="1">
            <a:schemeClr val="accent2"/>
          </a:lnRef>
          <a:fillRef idx="0">
            <a:schemeClr val="accent2"/>
          </a:fillRef>
          <a:effectRef idx="0">
            <a:schemeClr val="accent2"/>
          </a:effectRef>
          <a:fontRef idx="minor">
            <a:schemeClr val="tx1"/>
          </a:fontRef>
        </p:style>
      </p:cxnSp>
      <p:cxnSp>
        <p:nvCxnSpPr>
          <p:cNvPr id="15" name="Straight Arrow Connector 14"/>
          <p:cNvCxnSpPr/>
          <p:nvPr/>
        </p:nvCxnSpPr>
        <p:spPr>
          <a:xfrm>
            <a:off x="4419600" y="4875212"/>
            <a:ext cx="304800" cy="1588"/>
          </a:xfrm>
          <a:prstGeom prst="straightConnector1">
            <a:avLst/>
          </a:prstGeom>
          <a:ln>
            <a:tailEnd type="arrow"/>
          </a:ln>
        </p:spPr>
        <p:style>
          <a:lnRef idx="1">
            <a:schemeClr val="accent2"/>
          </a:lnRef>
          <a:fillRef idx="0">
            <a:schemeClr val="accent2"/>
          </a:fillRef>
          <a:effectRef idx="0">
            <a:schemeClr val="accent2"/>
          </a:effectRef>
          <a:fontRef idx="minor">
            <a:schemeClr val="tx1"/>
          </a:fontRef>
        </p:style>
      </p:cxnSp>
      <p:cxnSp>
        <p:nvCxnSpPr>
          <p:cNvPr id="16" name="Straight Arrow Connector 15"/>
          <p:cNvCxnSpPr/>
          <p:nvPr/>
        </p:nvCxnSpPr>
        <p:spPr>
          <a:xfrm>
            <a:off x="228600" y="4494212"/>
            <a:ext cx="304800" cy="1588"/>
          </a:xfrm>
          <a:prstGeom prst="straightConnector1">
            <a:avLst/>
          </a:prstGeom>
          <a:ln>
            <a:tailEnd type="arrow"/>
          </a:ln>
        </p:spPr>
        <p:style>
          <a:lnRef idx="1">
            <a:schemeClr val="accent2"/>
          </a:lnRef>
          <a:fillRef idx="0">
            <a:schemeClr val="accent2"/>
          </a:fillRef>
          <a:effectRef idx="0">
            <a:schemeClr val="accent2"/>
          </a:effectRef>
          <a:fontRef idx="minor">
            <a:schemeClr val="tx1"/>
          </a:fontRef>
        </p:style>
      </p:cxnSp>
      <p:cxnSp>
        <p:nvCxnSpPr>
          <p:cNvPr id="17" name="Straight Arrow Connector 16"/>
          <p:cNvCxnSpPr/>
          <p:nvPr/>
        </p:nvCxnSpPr>
        <p:spPr>
          <a:xfrm>
            <a:off x="228600" y="4570412"/>
            <a:ext cx="304800" cy="1588"/>
          </a:xfrm>
          <a:prstGeom prst="straightConnector1">
            <a:avLst/>
          </a:prstGeom>
          <a:ln>
            <a:tailEnd type="arrow"/>
          </a:ln>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900" dirty="0" smtClean="0"/>
              <a:t>Regression Analysis of Selected Metro Area Characteristics on Change in Dissimilarity or the Poor</a:t>
            </a:r>
            <a:endParaRPr lang="en-US" sz="2900" dirty="0"/>
          </a:p>
        </p:txBody>
      </p:sp>
      <p:sp>
        <p:nvSpPr>
          <p:cNvPr id="3" name="Content Placeholder 2"/>
          <p:cNvSpPr>
            <a:spLocks noGrp="1"/>
          </p:cNvSpPr>
          <p:nvPr>
            <p:ph idx="1"/>
          </p:nvPr>
        </p:nvSpPr>
        <p:spPr>
          <a:xfrm>
            <a:off x="457200" y="1600200"/>
            <a:ext cx="8229600" cy="1142999"/>
          </a:xfrm>
        </p:spPr>
        <p:txBody>
          <a:bodyPr>
            <a:normAutofit fontScale="47500" lnSpcReduction="20000"/>
          </a:bodyPr>
          <a:lstStyle/>
          <a:p>
            <a:r>
              <a:rPr lang="en-US" dirty="0" smtClean="0">
                <a:solidFill>
                  <a:schemeClr val="accent1">
                    <a:lumMod val="75000"/>
                  </a:schemeClr>
                </a:solidFill>
              </a:rPr>
              <a:t>Larger increase in the dissimilarity of the poor from 1970-1990 occurred in metropolitan areas with lower 1970 poverty rates (table 12).  More mixing of poor and </a:t>
            </a:r>
            <a:r>
              <a:rPr lang="en-US" dirty="0" err="1" smtClean="0">
                <a:solidFill>
                  <a:schemeClr val="accent1">
                    <a:lumMod val="75000"/>
                  </a:schemeClr>
                </a:solidFill>
              </a:rPr>
              <a:t>nonpoor</a:t>
            </a:r>
            <a:r>
              <a:rPr lang="en-US" dirty="0" smtClean="0">
                <a:solidFill>
                  <a:schemeClr val="accent1">
                    <a:lumMod val="75000"/>
                  </a:schemeClr>
                </a:solidFill>
              </a:rPr>
              <a:t> occur when the poor start off as a larger share of the population.</a:t>
            </a:r>
          </a:p>
          <a:p>
            <a:r>
              <a:rPr lang="en-US" dirty="0" smtClean="0">
                <a:solidFill>
                  <a:schemeClr val="accent1">
                    <a:lumMod val="75000"/>
                  </a:schemeClr>
                </a:solidFill>
              </a:rPr>
              <a:t>Larger increases in the isolation of the poor from 1970-1990 occurred in metropolitan areas that experienced larger 1970-1990 increases in poverty rate (table 13)</a:t>
            </a:r>
            <a:endParaRPr lang="en-US" dirty="0">
              <a:solidFill>
                <a:schemeClr val="accent1">
                  <a:lumMod val="75000"/>
                </a:schemeClr>
              </a:solidFill>
            </a:endParaRPr>
          </a:p>
        </p:txBody>
      </p:sp>
      <p:pic>
        <p:nvPicPr>
          <p:cNvPr id="27650" name="Picture 2"/>
          <p:cNvPicPr>
            <a:picLocks noChangeAspect="1" noChangeArrowheads="1"/>
          </p:cNvPicPr>
          <p:nvPr/>
        </p:nvPicPr>
        <p:blipFill>
          <a:blip r:embed="rId2" cstate="print"/>
          <a:srcRect l="28207" t="26084" r="27131" b="23692"/>
          <a:stretch>
            <a:fillRect/>
          </a:stretch>
        </p:blipFill>
        <p:spPr bwMode="auto">
          <a:xfrm>
            <a:off x="304800" y="3124200"/>
            <a:ext cx="4343400" cy="3200400"/>
          </a:xfrm>
          <a:prstGeom prst="rect">
            <a:avLst/>
          </a:prstGeom>
          <a:noFill/>
          <a:ln w="9525">
            <a:noFill/>
            <a:miter lim="800000"/>
            <a:headEnd/>
            <a:tailEnd/>
          </a:ln>
        </p:spPr>
      </p:pic>
      <p:pic>
        <p:nvPicPr>
          <p:cNvPr id="27652" name="Picture 4"/>
          <p:cNvPicPr>
            <a:picLocks noChangeAspect="1" noChangeArrowheads="1"/>
          </p:cNvPicPr>
          <p:nvPr/>
        </p:nvPicPr>
        <p:blipFill>
          <a:blip r:embed="rId3" cstate="print"/>
          <a:srcRect l="29628" t="40433" r="24927" b="8147"/>
          <a:stretch>
            <a:fillRect/>
          </a:stretch>
        </p:blipFill>
        <p:spPr bwMode="auto">
          <a:xfrm>
            <a:off x="4572000" y="3200400"/>
            <a:ext cx="4419600" cy="3276600"/>
          </a:xfrm>
          <a:prstGeom prst="rect">
            <a:avLst/>
          </a:prstGeom>
          <a:noFill/>
          <a:ln w="9525">
            <a:noFill/>
            <a:miter lim="800000"/>
            <a:headEnd/>
            <a:tailEnd/>
          </a:ln>
        </p:spPr>
      </p:pic>
      <p:cxnSp>
        <p:nvCxnSpPr>
          <p:cNvPr id="6" name="Straight Arrow Connector 5"/>
          <p:cNvCxnSpPr/>
          <p:nvPr/>
        </p:nvCxnSpPr>
        <p:spPr>
          <a:xfrm>
            <a:off x="304800" y="4343400"/>
            <a:ext cx="304800" cy="1588"/>
          </a:xfrm>
          <a:prstGeom prst="straightConnector1">
            <a:avLst/>
          </a:prstGeom>
          <a:ln>
            <a:tailEnd type="arrow"/>
          </a:ln>
        </p:spPr>
        <p:style>
          <a:lnRef idx="1">
            <a:schemeClr val="accent2"/>
          </a:lnRef>
          <a:fillRef idx="0">
            <a:schemeClr val="accent2"/>
          </a:fillRef>
          <a:effectRef idx="0">
            <a:schemeClr val="accent2"/>
          </a:effectRef>
          <a:fontRef idx="minor">
            <a:schemeClr val="tx1"/>
          </a:fontRef>
        </p:style>
      </p:cxnSp>
      <p:cxnSp>
        <p:nvCxnSpPr>
          <p:cNvPr id="7" name="Straight Arrow Connector 6"/>
          <p:cNvCxnSpPr/>
          <p:nvPr/>
        </p:nvCxnSpPr>
        <p:spPr>
          <a:xfrm>
            <a:off x="4419600" y="4494212"/>
            <a:ext cx="304800" cy="1588"/>
          </a:xfrm>
          <a:prstGeom prst="straightConnector1">
            <a:avLst/>
          </a:prstGeom>
          <a:ln>
            <a:tailEnd type="arrow"/>
          </a:ln>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Recommended Use of Results</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dirty="0" smtClean="0"/>
              <a:t>	In </a:t>
            </a:r>
            <a:r>
              <a:rPr lang="en-US" dirty="0"/>
              <a:t>an effort to decrease the segregation of the poor, the authors recommend a broad range of policy options.  </a:t>
            </a:r>
            <a:endParaRPr lang="en-US" dirty="0" smtClean="0"/>
          </a:p>
          <a:p>
            <a:pPr lvl="1"/>
            <a:r>
              <a:rPr lang="en-US" dirty="0" smtClean="0"/>
              <a:t>A set </a:t>
            </a:r>
            <a:r>
              <a:rPr lang="en-US" dirty="0"/>
              <a:t>of programs </a:t>
            </a:r>
            <a:r>
              <a:rPr lang="en-US" dirty="0" smtClean="0"/>
              <a:t>that would </a:t>
            </a:r>
            <a:r>
              <a:rPr lang="en-US" dirty="0"/>
              <a:t>attempt to attract the </a:t>
            </a:r>
            <a:r>
              <a:rPr lang="en-US" dirty="0" err="1" smtClean="0"/>
              <a:t>nonpoor</a:t>
            </a:r>
            <a:r>
              <a:rPr lang="en-US" dirty="0" smtClean="0"/>
              <a:t> </a:t>
            </a:r>
            <a:r>
              <a:rPr lang="en-US" dirty="0"/>
              <a:t>into poor neighborhoods through community redevelopment programs.  </a:t>
            </a:r>
            <a:endParaRPr lang="en-US" dirty="0" smtClean="0"/>
          </a:p>
          <a:p>
            <a:pPr lvl="1"/>
            <a:r>
              <a:rPr lang="en-US" dirty="0"/>
              <a:t>P</a:t>
            </a:r>
            <a:r>
              <a:rPr lang="en-US" dirty="0" smtClean="0"/>
              <a:t>rovide </a:t>
            </a:r>
            <a:r>
              <a:rPr lang="en-US" dirty="0"/>
              <a:t>transportation assistance to jobs in the suburbs or by finding them housing in </a:t>
            </a:r>
            <a:r>
              <a:rPr lang="en-US" dirty="0" err="1"/>
              <a:t>nonpoor</a:t>
            </a:r>
            <a:r>
              <a:rPr lang="en-US" dirty="0"/>
              <a:t> areas</a:t>
            </a:r>
            <a:r>
              <a:rPr lang="en-US" dirty="0" smtClean="0"/>
              <a:t>.</a:t>
            </a:r>
          </a:p>
          <a:p>
            <a:pPr lvl="1"/>
            <a:r>
              <a:rPr lang="en-US" dirty="0" smtClean="0"/>
              <a:t>Focus on the overall health of metropolitan-area or regional economies that might eventually affect the level of segregation</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Critique</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Statistical </a:t>
            </a:r>
            <a:r>
              <a:rPr lang="en-US" dirty="0"/>
              <a:t>analysis seems to be very sound for </a:t>
            </a:r>
            <a:r>
              <a:rPr lang="en-US" dirty="0" smtClean="0"/>
              <a:t>most of the </a:t>
            </a:r>
            <a:r>
              <a:rPr lang="en-US" dirty="0"/>
              <a:t>results of this article. </a:t>
            </a:r>
            <a:endParaRPr lang="en-US" dirty="0" smtClean="0"/>
          </a:p>
          <a:p>
            <a:r>
              <a:rPr lang="en-US" dirty="0" smtClean="0"/>
              <a:t>The </a:t>
            </a:r>
            <a:r>
              <a:rPr lang="en-US" dirty="0"/>
              <a:t>authors did make their case by approaching the findings in a variety of ways and comparing their results with other studies.  </a:t>
            </a:r>
            <a:endParaRPr lang="en-US" dirty="0" smtClean="0"/>
          </a:p>
          <a:p>
            <a:r>
              <a:rPr lang="en-US" dirty="0" smtClean="0"/>
              <a:t>The </a:t>
            </a:r>
            <a:r>
              <a:rPr lang="en-US" dirty="0"/>
              <a:t>authors’ results did match their data and was very understandable.  </a:t>
            </a:r>
            <a:endParaRPr lang="en-US" dirty="0" smtClean="0"/>
          </a:p>
          <a:p>
            <a:r>
              <a:rPr lang="en-US" dirty="0" smtClean="0"/>
              <a:t>It </a:t>
            </a:r>
            <a:r>
              <a:rPr lang="en-US" dirty="0"/>
              <a:t>would have been nice to see other correlations such as crime rate affects the cities with the highest and lowest segregation of the poor.  </a:t>
            </a:r>
            <a:endParaRPr lang="en-US" dirty="0" smtClean="0"/>
          </a:p>
          <a:p>
            <a:r>
              <a:rPr lang="en-US" dirty="0" smtClean="0"/>
              <a:t>It </a:t>
            </a:r>
            <a:r>
              <a:rPr lang="en-US" dirty="0"/>
              <a:t>would an interesting next step to examine the factors going into why </a:t>
            </a:r>
            <a:r>
              <a:rPr lang="en-US" dirty="0" smtClean="0"/>
              <a:t>the indices of these </a:t>
            </a:r>
            <a:r>
              <a:rPr lang="en-US" dirty="0"/>
              <a:t>cities changed </a:t>
            </a:r>
            <a:r>
              <a:rPr lang="en-US" dirty="0" smtClean="0"/>
              <a:t>between 1970 and 1990.</a:t>
            </a:r>
            <a:endParaRPr lang="en-US" dirty="0"/>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ctr">
              <a:buNone/>
            </a:pPr>
            <a:endParaRPr lang="en-US" dirty="0" smtClean="0"/>
          </a:p>
          <a:p>
            <a:pPr algn="ctr">
              <a:buNone/>
            </a:pPr>
            <a:endParaRPr lang="en-US" dirty="0" smtClean="0"/>
          </a:p>
          <a:p>
            <a:pPr algn="ctr">
              <a:buNone/>
            </a:pPr>
            <a:r>
              <a:rPr lang="en-US" sz="4400" dirty="0" smtClean="0"/>
              <a:t>Questions?</a:t>
            </a:r>
            <a:endParaRPr lang="en-US" sz="4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1070</TotalTime>
  <Words>872</Words>
  <Application>Microsoft Office PowerPoint</Application>
  <PresentationFormat>On-screen Show (4:3)</PresentationFormat>
  <Paragraphs>70</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The Changing Geography of Metropolitan Opportunity: The Segregation of the Poor in U.S. Metropolitan Areas, 1970 to 1990</vt:lpstr>
      <vt:lpstr>“Poor” and “Rich” Areas</vt:lpstr>
      <vt:lpstr>Why study  Segregation of “Rich” and “Poor” Areas</vt:lpstr>
      <vt:lpstr>Why study  Segregation of “Rich” and “Poor” Areas (cont.)</vt:lpstr>
      <vt:lpstr>Segregation Indices</vt:lpstr>
      <vt:lpstr>Dissimilarity and Isolation of Poor in Selected Cities</vt:lpstr>
      <vt:lpstr>Indices of Poor as Compared with Black and Hispanic Populations</vt:lpstr>
      <vt:lpstr>Dissimilarity Indices compared with other known indicators of poorer neighborhoods</vt:lpstr>
      <vt:lpstr>Metro areas with highest Segregation Indices</vt:lpstr>
      <vt:lpstr>Change in Dissimilarity and Isolation Indices of the Poor for Selected Metro Areas 1970-1990</vt:lpstr>
      <vt:lpstr>Change in Dissimilarity and Isolation Indices of the Poor for 1970-1990 – Top Metro Areas</vt:lpstr>
      <vt:lpstr>Regression Analysis of Selected Metro Area Characteristics and Dissimilarity of the Poor</vt:lpstr>
      <vt:lpstr>Regression Analysis of Selected Metro Area Characteristics on Change in Dissimilarity or the Poor</vt:lpstr>
      <vt:lpstr>Recommended Use of Results</vt:lpstr>
      <vt:lpstr>Critique</vt:lpstr>
      <vt:lpstr>Slide 16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Henry Reissig</dc:creator>
  <cp:lastModifiedBy>hr10957</cp:lastModifiedBy>
  <cp:revision>61</cp:revision>
  <dcterms:created xsi:type="dcterms:W3CDTF">2009-11-01T16:07:41Z</dcterms:created>
  <dcterms:modified xsi:type="dcterms:W3CDTF">2009-11-03T00:54:41Z</dcterms:modified>
</cp:coreProperties>
</file>